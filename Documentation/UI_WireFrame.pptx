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257"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81342" autoAdjust="0"/>
  </p:normalViewPr>
  <p:slideViewPr>
    <p:cSldViewPr snapToGrid="0">
      <p:cViewPr varScale="1">
        <p:scale>
          <a:sx n="86" d="100"/>
          <a:sy n="86" d="100"/>
        </p:scale>
        <p:origin x="84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C385A1-E043-4DEF-AF57-D24C6CB71DAC}" type="datetimeFigureOut">
              <a:rPr lang="en-US" smtClean="0"/>
              <a:t>4/11/2024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C89F3F-441F-4A04-A2D5-EBB32987D003}" type="slidenum">
              <a:rPr lang="en-US" smtClean="0"/>
              <a:t>‹#›</a:t>
            </a:fld>
            <a:endParaRPr lang="en-US"/>
          </a:p>
        </p:txBody>
      </p:sp>
    </p:spTree>
    <p:extLst>
      <p:ext uri="{BB962C8B-B14F-4D97-AF65-F5344CB8AC3E}">
        <p14:creationId xmlns:p14="http://schemas.microsoft.com/office/powerpoint/2010/main" val="8013157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Grid-0 is the grid of the main application window or the root. The app is a </a:t>
            </a:r>
            <a:r>
              <a:rPr lang="en-US" dirty="0" err="1"/>
              <a:t>ttk.Frame</a:t>
            </a:r>
            <a:r>
              <a:rPr lang="en-US" dirty="0"/>
              <a:t>, and it is gridded onto Grid-0.</a:t>
            </a:r>
          </a:p>
          <a:p>
            <a:endParaRPr lang="en-US" dirty="0"/>
          </a:p>
          <a:p>
            <a:r>
              <a:rPr lang="en-US" dirty="0"/>
              <a:t>A {mediator design pattern} will be used to manage the interactions between Player 1 Hand, the Crib, and the Play Pile. For example, when user clicks on a card button in the hand, while be asked to play, that button’s text will be blanked, and the button will be hidden. Then that button’s text will be moved to the next hidden button in the play pile, and that play pile button will be shown. This mediator will also be responsible for “turning over” the crib cards by adding text to them when it is time to show the crib.</a:t>
            </a:r>
          </a:p>
          <a:p>
            <a:endParaRPr lang="en-US" dirty="0"/>
          </a:p>
          <a:p>
            <a:r>
              <a:rPr lang="en-US" dirty="0"/>
              <a:t>The menu of the application will initially be very simple: Start New Game | Quit</a:t>
            </a:r>
          </a:p>
          <a:p>
            <a:endParaRPr lang="en-US" dirty="0"/>
          </a:p>
          <a:p>
            <a:r>
              <a:rPr lang="en-US" dirty="0"/>
              <a:t>Will probably want to have python classes to represent, besides the App, the Cribbage Board (for sure), Starter (maybe), Crib (likely), Hand (for sure), Play Pile (for sure), Play/Show Score Info (maybe)</a:t>
            </a:r>
          </a:p>
          <a:p>
            <a:endParaRPr lang="en-US" dirty="0"/>
          </a:p>
          <a:p>
            <a:r>
              <a:rPr lang="en-US" dirty="0"/>
              <a:t>Player 1 Hand must have up to 6 card buttons shown, for immediately after deal and before crib is formed. The Undo button should only back out the previous click AFTER the other player has played. It is intended to allow a correction of clicking the wrong card, not backing up in the game.</a:t>
            </a:r>
          </a:p>
          <a:p>
            <a:endParaRPr lang="en-US" dirty="0"/>
          </a:p>
          <a:p>
            <a:r>
              <a:rPr lang="en-US" dirty="0"/>
              <a:t>In the event that 9 cards buttons are not enough for the Play Pile, would probably just “rotate” text and let the oldest cards “disappear”. Could add the text for the </a:t>
            </a:r>
            <a:r>
              <a:rPr lang="en-US" dirty="0" err="1"/>
              <a:t>disappeard</a:t>
            </a:r>
            <a:r>
              <a:rPr lang="en-US" dirty="0"/>
              <a:t> cards to the label frame text, or make the first card button represent multiple cards and change it’s text accordingly.</a:t>
            </a:r>
          </a:p>
        </p:txBody>
      </p:sp>
      <p:sp>
        <p:nvSpPr>
          <p:cNvPr id="4" name="Slide Number Placeholder 3"/>
          <p:cNvSpPr>
            <a:spLocks noGrp="1"/>
          </p:cNvSpPr>
          <p:nvPr>
            <p:ph type="sldNum" sz="quarter" idx="5"/>
          </p:nvPr>
        </p:nvSpPr>
        <p:spPr/>
        <p:txBody>
          <a:bodyPr/>
          <a:lstStyle/>
          <a:p>
            <a:fld id="{F8C89F3F-441F-4A04-A2D5-EBB32987D003}" type="slidenum">
              <a:rPr lang="en-US" smtClean="0"/>
              <a:t>1</a:t>
            </a:fld>
            <a:endParaRPr lang="en-US"/>
          </a:p>
        </p:txBody>
      </p:sp>
    </p:spTree>
    <p:extLst>
      <p:ext uri="{BB962C8B-B14F-4D97-AF65-F5344CB8AC3E}">
        <p14:creationId xmlns:p14="http://schemas.microsoft.com/office/powerpoint/2010/main" val="15988138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7BC53-7D2E-5C8D-7CB1-B91FCB3AF39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971D76A-3D1D-2F79-A0A4-8672E9F25B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674ACE9-83ED-358B-7079-9491F045A6FB}"/>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5" name="Footer Placeholder 4">
            <a:extLst>
              <a:ext uri="{FF2B5EF4-FFF2-40B4-BE49-F238E27FC236}">
                <a16:creationId xmlns:a16="http://schemas.microsoft.com/office/drawing/2014/main" id="{68EDA528-A541-8C44-03B0-8F144C576E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C9DE7E-EBAF-B5DE-CDB1-847777840EEF}"/>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51342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2F7AAB-AF79-3E8D-16DF-18DBD80427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0BC6C63-EB1C-05EA-12BE-87AAF9BEB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133941-FF41-5ECB-C2C1-E2235624FE49}"/>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5" name="Footer Placeholder 4">
            <a:extLst>
              <a:ext uri="{FF2B5EF4-FFF2-40B4-BE49-F238E27FC236}">
                <a16:creationId xmlns:a16="http://schemas.microsoft.com/office/drawing/2014/main" id="{852F5B49-E0F5-787F-7619-BACABD5930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B96961-F654-E646-0DB0-7B86F5113B4C}"/>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647143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4B5EE0-3909-3AC3-3D76-076202EBF67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C4EACC2-7D56-D34B-8BEB-DFD52FAA99A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B8857B0-FA91-2D74-504B-FE0FAF10F28B}"/>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5" name="Footer Placeholder 4">
            <a:extLst>
              <a:ext uri="{FF2B5EF4-FFF2-40B4-BE49-F238E27FC236}">
                <a16:creationId xmlns:a16="http://schemas.microsoft.com/office/drawing/2014/main" id="{FA93F860-C4EE-0EAA-D038-9F7AEF5D3A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251DDD-3026-BE3A-BB0E-EFE6377F8618}"/>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608705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4CFC05-6EBA-411A-A04B-F3FEBCDAB72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7E5FD3-37E9-CBA9-E075-7E8E593AD2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4A460EC-4C14-1F83-E105-C52E1FEB60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1D62A8-C688-5894-96AB-0702FD62EAC3}"/>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6" name="Footer Placeholder 5">
            <a:extLst>
              <a:ext uri="{FF2B5EF4-FFF2-40B4-BE49-F238E27FC236}">
                <a16:creationId xmlns:a16="http://schemas.microsoft.com/office/drawing/2014/main" id="{9869C0CF-72F0-0F19-104B-D1AA990B37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A7ADFA-5521-7359-E115-4103A4FC3068}"/>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9772334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48D3B-9430-3209-AC00-83FAEA5150E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48188B-4AC1-1AED-5C62-1575FDD36A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FFB614-1C6E-7573-578A-0A40615D6D2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338517-B77C-D663-CF44-5CA70A38B1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27F814-B7BE-AF02-9D92-96001C21CB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17A2D49-B652-CBB6-C055-7A674E75BC17}"/>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8" name="Footer Placeholder 7">
            <a:extLst>
              <a:ext uri="{FF2B5EF4-FFF2-40B4-BE49-F238E27FC236}">
                <a16:creationId xmlns:a16="http://schemas.microsoft.com/office/drawing/2014/main" id="{D56AE2DE-BA3D-A3D3-FACD-41F2D3E448C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AF8B3F-06CB-91B3-B26B-93C26CFE434F}"/>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1238388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98D0E-2A2C-7503-27CC-A6C507C12E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385476B-02CB-BFFE-DD80-6DD125230C02}"/>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4" name="Footer Placeholder 3">
            <a:extLst>
              <a:ext uri="{FF2B5EF4-FFF2-40B4-BE49-F238E27FC236}">
                <a16:creationId xmlns:a16="http://schemas.microsoft.com/office/drawing/2014/main" id="{1A48E6E2-E2CE-57EB-6991-AAB40E705F7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2A9084F-2D1C-467E-1B93-657FE6BF790A}"/>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607847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642084-35BF-8F84-CDD8-CE2175CBFFE2}"/>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3" name="Footer Placeholder 2">
            <a:extLst>
              <a:ext uri="{FF2B5EF4-FFF2-40B4-BE49-F238E27FC236}">
                <a16:creationId xmlns:a16="http://schemas.microsoft.com/office/drawing/2014/main" id="{8581265E-D8FC-EF35-CEB4-08DDBB404E6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61755F-888D-7660-CD17-D1A82099627A}"/>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35200283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009C94-5E1A-60D3-CD7F-246CCA83A49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0F58F42-DDFF-E17D-386E-C803120827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31A6A5-299D-B03F-CDB2-90ECDB9EB8F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9189E4-09AA-B5E9-5DFA-B289D556866E}"/>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6" name="Footer Placeholder 5">
            <a:extLst>
              <a:ext uri="{FF2B5EF4-FFF2-40B4-BE49-F238E27FC236}">
                <a16:creationId xmlns:a16="http://schemas.microsoft.com/office/drawing/2014/main" id="{B173ED1A-C6CA-A1A0-DA8A-416790E0BC8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46CF2D-083A-44BD-D8C8-F9E71222C73B}"/>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1999574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62D9F6-F822-3FE5-CCB2-C4F5A9AA69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D21F6A-8671-7FA8-8314-42DA858EEF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C780768-1D2E-8F04-BE37-5D153EF00E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335E78-CF68-496D-788B-4CE788E706E7}"/>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6" name="Footer Placeholder 5">
            <a:extLst>
              <a:ext uri="{FF2B5EF4-FFF2-40B4-BE49-F238E27FC236}">
                <a16:creationId xmlns:a16="http://schemas.microsoft.com/office/drawing/2014/main" id="{3B514F2F-EFD5-188B-213D-61CA0D23C3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A805CB-D658-7259-0638-2A9A53EAFA68}"/>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5856631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534C7-C643-1660-FD76-A280A7E779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AA58446-B601-92C9-B2F8-12FAAE62F7A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7EA9C4-17F4-2F96-FFA3-BD7EF8725A8E}"/>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5" name="Footer Placeholder 4">
            <a:extLst>
              <a:ext uri="{FF2B5EF4-FFF2-40B4-BE49-F238E27FC236}">
                <a16:creationId xmlns:a16="http://schemas.microsoft.com/office/drawing/2014/main" id="{91B73665-57C2-EB36-9AAB-09BB247EEA2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8E0B85-DB80-CB52-2B48-F219D7854B3C}"/>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14302999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7812FF-0620-3A97-696E-0F4672B37F3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FBB1BA6-3B43-E69A-1AA6-1244B7B124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79EEE4-510A-5E64-8715-D56B9F941D13}"/>
              </a:ext>
            </a:extLst>
          </p:cNvPr>
          <p:cNvSpPr>
            <a:spLocks noGrp="1"/>
          </p:cNvSpPr>
          <p:nvPr>
            <p:ph type="dt" sz="half" idx="10"/>
          </p:nvPr>
        </p:nvSpPr>
        <p:spPr/>
        <p:txBody>
          <a:bodyPr/>
          <a:lstStyle/>
          <a:p>
            <a:fld id="{4870612B-B7BB-4E5D-BC34-D71D50577435}" type="datetimeFigureOut">
              <a:rPr lang="en-US" smtClean="0"/>
              <a:t>4/11/2024</a:t>
            </a:fld>
            <a:endParaRPr lang="en-US"/>
          </a:p>
        </p:txBody>
      </p:sp>
      <p:sp>
        <p:nvSpPr>
          <p:cNvPr id="5" name="Footer Placeholder 4">
            <a:extLst>
              <a:ext uri="{FF2B5EF4-FFF2-40B4-BE49-F238E27FC236}">
                <a16:creationId xmlns:a16="http://schemas.microsoft.com/office/drawing/2014/main" id="{F3179A60-D398-5CCB-DD75-8D58154118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B2E3F6-0924-6AF7-45CA-102DC0D4D322}"/>
              </a:ext>
            </a:extLst>
          </p:cNvPr>
          <p:cNvSpPr>
            <a:spLocks noGrp="1"/>
          </p:cNvSpPr>
          <p:nvPr>
            <p:ph type="sldNum" sz="quarter" idx="12"/>
          </p:nvPr>
        </p:nvSpPr>
        <p:spPr/>
        <p:txBody>
          <a:bodyPr/>
          <a:lstStyle/>
          <a:p>
            <a:fld id="{08FFCC8A-FE92-4905-8917-AD6F36E59298}" type="slidenum">
              <a:rPr lang="en-US" smtClean="0"/>
              <a:t>‹#›</a:t>
            </a:fld>
            <a:endParaRPr lang="en-US"/>
          </a:p>
        </p:txBody>
      </p:sp>
    </p:spTree>
    <p:extLst>
      <p:ext uri="{BB962C8B-B14F-4D97-AF65-F5344CB8AC3E}">
        <p14:creationId xmlns:p14="http://schemas.microsoft.com/office/powerpoint/2010/main" val="22615924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4B2ABC-0AF1-9408-DF8A-6616A3CF99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9711B8D-CCC5-7127-2709-94F5B19A878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A335-53F1-1C69-FFF4-DA47CE78EA6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870612B-B7BB-4E5D-BC34-D71D50577435}" type="datetimeFigureOut">
              <a:rPr lang="en-US" smtClean="0"/>
              <a:t>4/11/2024</a:t>
            </a:fld>
            <a:endParaRPr lang="en-US"/>
          </a:p>
        </p:txBody>
      </p:sp>
      <p:sp>
        <p:nvSpPr>
          <p:cNvPr id="5" name="Footer Placeholder 4">
            <a:extLst>
              <a:ext uri="{FF2B5EF4-FFF2-40B4-BE49-F238E27FC236}">
                <a16:creationId xmlns:a16="http://schemas.microsoft.com/office/drawing/2014/main" id="{56935D2B-CBF5-8168-3E58-A1A77B283E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6C24267-7DAC-DF11-1E69-3D568819BC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8FFCC8A-FE92-4905-8917-AD6F36E59298}" type="slidenum">
              <a:rPr lang="en-US" smtClean="0"/>
              <a:t>‹#›</a:t>
            </a:fld>
            <a:endParaRPr lang="en-US"/>
          </a:p>
        </p:txBody>
      </p:sp>
    </p:spTree>
    <p:extLst>
      <p:ext uri="{BB962C8B-B14F-4D97-AF65-F5344CB8AC3E}">
        <p14:creationId xmlns:p14="http://schemas.microsoft.com/office/powerpoint/2010/main" val="40996080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Box 18">
            <a:extLst>
              <a:ext uri="{FF2B5EF4-FFF2-40B4-BE49-F238E27FC236}">
                <a16:creationId xmlns:a16="http://schemas.microsoft.com/office/drawing/2014/main" id="{13D24BEB-1077-EA53-A6A3-5EEB39BD46FF}"/>
              </a:ext>
            </a:extLst>
          </p:cNvPr>
          <p:cNvSpPr txBox="1"/>
          <p:nvPr/>
        </p:nvSpPr>
        <p:spPr>
          <a:xfrm>
            <a:off x="3355224" y="1987606"/>
            <a:ext cx="8703541" cy="1687051"/>
          </a:xfrm>
          <a:prstGeom prst="rect">
            <a:avLst/>
          </a:prstGeom>
          <a:noFill/>
          <a:ln>
            <a:solidFill>
              <a:schemeClr val="accent1"/>
            </a:solidFill>
          </a:ln>
        </p:spPr>
        <p:txBody>
          <a:bodyPr wrap="square" rtlCol="0">
            <a:noAutofit/>
          </a:bodyPr>
          <a:lstStyle/>
          <a:p>
            <a:r>
              <a:rPr lang="en-US" dirty="0"/>
              <a:t>Player 1 Hand – </a:t>
            </a:r>
            <a:r>
              <a:rPr lang="en-US" dirty="0">
                <a:solidFill>
                  <a:schemeClr val="accent3"/>
                </a:solidFill>
              </a:rPr>
              <a:t>Click card to add to crib / play</a:t>
            </a:r>
          </a:p>
        </p:txBody>
      </p:sp>
      <p:sp>
        <p:nvSpPr>
          <p:cNvPr id="18" name="TextBox 17">
            <a:extLst>
              <a:ext uri="{FF2B5EF4-FFF2-40B4-BE49-F238E27FC236}">
                <a16:creationId xmlns:a16="http://schemas.microsoft.com/office/drawing/2014/main" id="{F8FF0499-6379-C3D2-F6BE-EDF15B22F758}"/>
              </a:ext>
            </a:extLst>
          </p:cNvPr>
          <p:cNvSpPr txBox="1"/>
          <p:nvPr/>
        </p:nvSpPr>
        <p:spPr>
          <a:xfrm>
            <a:off x="3362909" y="3671546"/>
            <a:ext cx="8703540" cy="1697355"/>
          </a:xfrm>
          <a:prstGeom prst="rect">
            <a:avLst/>
          </a:prstGeom>
          <a:noFill/>
          <a:ln>
            <a:solidFill>
              <a:schemeClr val="accent1"/>
            </a:solidFill>
          </a:ln>
        </p:spPr>
        <p:txBody>
          <a:bodyPr wrap="square" rtlCol="0">
            <a:noAutofit/>
          </a:bodyPr>
          <a:lstStyle/>
          <a:p>
            <a:r>
              <a:rPr lang="en-US" dirty="0"/>
              <a:t>Play Pile</a:t>
            </a:r>
          </a:p>
        </p:txBody>
      </p:sp>
      <p:sp>
        <p:nvSpPr>
          <p:cNvPr id="10" name="TextBox 9">
            <a:extLst>
              <a:ext uri="{FF2B5EF4-FFF2-40B4-BE49-F238E27FC236}">
                <a16:creationId xmlns:a16="http://schemas.microsoft.com/office/drawing/2014/main" id="{D1EF0CA6-FC74-1EAD-7BEC-0611F046700E}"/>
              </a:ext>
            </a:extLst>
          </p:cNvPr>
          <p:cNvSpPr txBox="1"/>
          <p:nvPr/>
        </p:nvSpPr>
        <p:spPr>
          <a:xfrm>
            <a:off x="3377169" y="109728"/>
            <a:ext cx="1787535" cy="1881116"/>
          </a:xfrm>
          <a:prstGeom prst="rect">
            <a:avLst/>
          </a:prstGeom>
          <a:noFill/>
          <a:ln>
            <a:solidFill>
              <a:schemeClr val="accent1"/>
            </a:solidFill>
          </a:ln>
        </p:spPr>
        <p:txBody>
          <a:bodyPr wrap="square" rtlCol="0">
            <a:noAutofit/>
          </a:bodyPr>
          <a:lstStyle/>
          <a:p>
            <a:r>
              <a:rPr lang="en-US" dirty="0"/>
              <a:t>Starter</a:t>
            </a:r>
          </a:p>
        </p:txBody>
      </p:sp>
      <p:sp>
        <p:nvSpPr>
          <p:cNvPr id="2" name="TextBox 1">
            <a:extLst>
              <a:ext uri="{FF2B5EF4-FFF2-40B4-BE49-F238E27FC236}">
                <a16:creationId xmlns:a16="http://schemas.microsoft.com/office/drawing/2014/main" id="{AEEE1016-557E-41E8-AF7F-CCABD372BDAD}"/>
              </a:ext>
            </a:extLst>
          </p:cNvPr>
          <p:cNvSpPr txBox="1"/>
          <p:nvPr/>
        </p:nvSpPr>
        <p:spPr>
          <a:xfrm>
            <a:off x="611701" y="109729"/>
            <a:ext cx="2745975" cy="6509970"/>
          </a:xfrm>
          <a:prstGeom prst="rect">
            <a:avLst/>
          </a:prstGeom>
          <a:noFill/>
          <a:ln>
            <a:solidFill>
              <a:schemeClr val="accent1"/>
            </a:solidFill>
          </a:ln>
        </p:spPr>
        <p:txBody>
          <a:bodyPr wrap="square" rtlCol="0">
            <a:noAutofit/>
          </a:bodyPr>
          <a:lstStyle/>
          <a:p>
            <a:r>
              <a:rPr lang="en-US" dirty="0"/>
              <a:t>Cribbage Board</a:t>
            </a:r>
          </a:p>
        </p:txBody>
      </p:sp>
      <p:sp>
        <p:nvSpPr>
          <p:cNvPr id="7" name="TextBox 6">
            <a:extLst>
              <a:ext uri="{FF2B5EF4-FFF2-40B4-BE49-F238E27FC236}">
                <a16:creationId xmlns:a16="http://schemas.microsoft.com/office/drawing/2014/main" id="{18D929B4-F003-4B45-B625-F14619D054E9}"/>
              </a:ext>
            </a:extLst>
          </p:cNvPr>
          <p:cNvSpPr txBox="1"/>
          <p:nvPr/>
        </p:nvSpPr>
        <p:spPr>
          <a:xfrm>
            <a:off x="2181864" y="182458"/>
            <a:ext cx="1073400" cy="276999"/>
          </a:xfrm>
          <a:prstGeom prst="rect">
            <a:avLst/>
          </a:prstGeom>
          <a:noFill/>
        </p:spPr>
        <p:txBody>
          <a:bodyPr wrap="square" rtlCol="0">
            <a:spAutoFit/>
          </a:bodyPr>
          <a:lstStyle/>
          <a:p>
            <a:r>
              <a:rPr lang="en-US" sz="1200" dirty="0">
                <a:solidFill>
                  <a:srgbClr val="FF0000"/>
                </a:solidFill>
              </a:rPr>
              <a:t>Grid-1 (0-3,0)</a:t>
            </a:r>
          </a:p>
        </p:txBody>
      </p:sp>
      <p:grpSp>
        <p:nvGrpSpPr>
          <p:cNvPr id="16" name="Group 15">
            <a:extLst>
              <a:ext uri="{FF2B5EF4-FFF2-40B4-BE49-F238E27FC236}">
                <a16:creationId xmlns:a16="http://schemas.microsoft.com/office/drawing/2014/main" id="{0E91A849-02F1-561E-06A7-6530531373D6}"/>
              </a:ext>
            </a:extLst>
          </p:cNvPr>
          <p:cNvGrpSpPr/>
          <p:nvPr/>
        </p:nvGrpSpPr>
        <p:grpSpPr>
          <a:xfrm>
            <a:off x="611701" y="532182"/>
            <a:ext cx="1348773" cy="6087517"/>
            <a:chOff x="611701" y="1153973"/>
            <a:chExt cx="1348773" cy="5034686"/>
          </a:xfrm>
        </p:grpSpPr>
        <p:sp>
          <p:nvSpPr>
            <p:cNvPr id="3" name="TextBox 2">
              <a:extLst>
                <a:ext uri="{FF2B5EF4-FFF2-40B4-BE49-F238E27FC236}">
                  <a16:creationId xmlns:a16="http://schemas.microsoft.com/office/drawing/2014/main" id="{51AAD25F-6AB7-1B9F-D475-FC50B9523C98}"/>
                </a:ext>
              </a:extLst>
            </p:cNvPr>
            <p:cNvSpPr txBox="1"/>
            <p:nvPr/>
          </p:nvSpPr>
          <p:spPr>
            <a:xfrm>
              <a:off x="611701" y="1153973"/>
              <a:ext cx="1348773" cy="5034686"/>
            </a:xfrm>
            <a:prstGeom prst="rect">
              <a:avLst/>
            </a:prstGeom>
            <a:noFill/>
            <a:ln>
              <a:solidFill>
                <a:schemeClr val="accent1"/>
              </a:solidFill>
            </a:ln>
          </p:spPr>
          <p:txBody>
            <a:bodyPr wrap="square" rtlCol="0">
              <a:noAutofit/>
            </a:bodyPr>
            <a:lstStyle/>
            <a:p>
              <a:r>
                <a:rPr lang="en-US" dirty="0"/>
                <a:t>Player 1 - </a:t>
              </a:r>
              <a:r>
                <a:rPr lang="en-US" dirty="0">
                  <a:solidFill>
                    <a:schemeClr val="accent3"/>
                  </a:solidFill>
                </a:rPr>
                <a:t>Dealer</a:t>
              </a:r>
            </a:p>
          </p:txBody>
        </p:sp>
        <p:sp>
          <p:nvSpPr>
            <p:cNvPr id="5" name="TextBox 4">
              <a:extLst>
                <a:ext uri="{FF2B5EF4-FFF2-40B4-BE49-F238E27FC236}">
                  <a16:creationId xmlns:a16="http://schemas.microsoft.com/office/drawing/2014/main" id="{7387F187-1DC6-FD0F-E434-0E4A15F21FC4}"/>
                </a:ext>
              </a:extLst>
            </p:cNvPr>
            <p:cNvSpPr txBox="1"/>
            <p:nvPr/>
          </p:nvSpPr>
          <p:spPr>
            <a:xfrm>
              <a:off x="766836" y="1721081"/>
              <a:ext cx="899605" cy="229092"/>
            </a:xfrm>
            <a:prstGeom prst="rect">
              <a:avLst/>
            </a:prstGeom>
            <a:noFill/>
          </p:spPr>
          <p:txBody>
            <a:bodyPr wrap="none" rtlCol="0">
              <a:spAutoFit/>
            </a:bodyPr>
            <a:lstStyle/>
            <a:p>
              <a:r>
                <a:rPr lang="en-US" sz="1200" dirty="0">
                  <a:solidFill>
                    <a:srgbClr val="FF0000"/>
                  </a:solidFill>
                </a:rPr>
                <a:t>Grid-2 (0,0)</a:t>
              </a:r>
            </a:p>
          </p:txBody>
        </p:sp>
        <p:sp>
          <p:nvSpPr>
            <p:cNvPr id="8" name="TextBox 7">
              <a:extLst>
                <a:ext uri="{FF2B5EF4-FFF2-40B4-BE49-F238E27FC236}">
                  <a16:creationId xmlns:a16="http://schemas.microsoft.com/office/drawing/2014/main" id="{85E861E2-3C0B-B13C-FDFC-3FDAB49E840C}"/>
                </a:ext>
              </a:extLst>
            </p:cNvPr>
            <p:cNvSpPr txBox="1"/>
            <p:nvPr/>
          </p:nvSpPr>
          <p:spPr>
            <a:xfrm>
              <a:off x="622063" y="2331351"/>
              <a:ext cx="1328048" cy="840005"/>
            </a:xfrm>
            <a:prstGeom prst="rect">
              <a:avLst/>
            </a:prstGeom>
            <a:noFill/>
          </p:spPr>
          <p:txBody>
            <a:bodyPr wrap="square" rtlCol="0">
              <a:spAutoFit/>
            </a:bodyPr>
            <a:lstStyle/>
            <a:p>
              <a:r>
                <a:rPr lang="en-US" sz="1200" dirty="0">
                  <a:solidFill>
                    <a:srgbClr val="FF0000"/>
                  </a:solidFill>
                </a:rPr>
                <a:t>Peg holes are check boxes or radio buttons laid out on</a:t>
              </a:r>
            </a:p>
            <a:p>
              <a:r>
                <a:rPr lang="en-US" sz="1200" dirty="0">
                  <a:solidFill>
                    <a:srgbClr val="FF0000"/>
                  </a:solidFill>
                </a:rPr>
                <a:t>Grid-3 (0-31,0-1)</a:t>
              </a:r>
            </a:p>
          </p:txBody>
        </p:sp>
      </p:grpSp>
      <p:grpSp>
        <p:nvGrpSpPr>
          <p:cNvPr id="15" name="Group 14">
            <a:extLst>
              <a:ext uri="{FF2B5EF4-FFF2-40B4-BE49-F238E27FC236}">
                <a16:creationId xmlns:a16="http://schemas.microsoft.com/office/drawing/2014/main" id="{AE4D2B63-A950-208C-F616-7AFBBE29B80C}"/>
              </a:ext>
            </a:extLst>
          </p:cNvPr>
          <p:cNvGrpSpPr/>
          <p:nvPr/>
        </p:nvGrpSpPr>
        <p:grpSpPr>
          <a:xfrm>
            <a:off x="1960474" y="532183"/>
            <a:ext cx="1397202" cy="6087516"/>
            <a:chOff x="1960475" y="1153973"/>
            <a:chExt cx="1397202" cy="5034685"/>
          </a:xfrm>
        </p:grpSpPr>
        <p:sp>
          <p:nvSpPr>
            <p:cNvPr id="4" name="TextBox 3">
              <a:extLst>
                <a:ext uri="{FF2B5EF4-FFF2-40B4-BE49-F238E27FC236}">
                  <a16:creationId xmlns:a16="http://schemas.microsoft.com/office/drawing/2014/main" id="{CC06B1D9-60BA-2156-F65E-D1786AD95A00}"/>
                </a:ext>
              </a:extLst>
            </p:cNvPr>
            <p:cNvSpPr txBox="1"/>
            <p:nvPr/>
          </p:nvSpPr>
          <p:spPr>
            <a:xfrm>
              <a:off x="1960475" y="1153973"/>
              <a:ext cx="1397202" cy="5034685"/>
            </a:xfrm>
            <a:prstGeom prst="rect">
              <a:avLst/>
            </a:prstGeom>
            <a:noFill/>
            <a:ln>
              <a:solidFill>
                <a:schemeClr val="accent1"/>
              </a:solidFill>
            </a:ln>
          </p:spPr>
          <p:txBody>
            <a:bodyPr wrap="square" rtlCol="0">
              <a:noAutofit/>
            </a:bodyPr>
            <a:lstStyle/>
            <a:p>
              <a:r>
                <a:rPr lang="en-US" dirty="0"/>
                <a:t>Player 2</a:t>
              </a:r>
            </a:p>
          </p:txBody>
        </p:sp>
        <p:sp>
          <p:nvSpPr>
            <p:cNvPr id="6" name="TextBox 5">
              <a:extLst>
                <a:ext uri="{FF2B5EF4-FFF2-40B4-BE49-F238E27FC236}">
                  <a16:creationId xmlns:a16="http://schemas.microsoft.com/office/drawing/2014/main" id="{C9A7C3A3-A090-A23C-B9A5-D9D416AB0C75}"/>
                </a:ext>
              </a:extLst>
            </p:cNvPr>
            <p:cNvSpPr txBox="1"/>
            <p:nvPr/>
          </p:nvSpPr>
          <p:spPr>
            <a:xfrm>
              <a:off x="2008269" y="1445602"/>
              <a:ext cx="899605" cy="229092"/>
            </a:xfrm>
            <a:prstGeom prst="rect">
              <a:avLst/>
            </a:prstGeom>
            <a:noFill/>
          </p:spPr>
          <p:txBody>
            <a:bodyPr wrap="none" rtlCol="0">
              <a:spAutoFit/>
            </a:bodyPr>
            <a:lstStyle/>
            <a:p>
              <a:r>
                <a:rPr lang="en-US" sz="1200" dirty="0">
                  <a:solidFill>
                    <a:srgbClr val="FF0000"/>
                  </a:solidFill>
                </a:rPr>
                <a:t>Grid-2 (0,1)</a:t>
              </a:r>
            </a:p>
          </p:txBody>
        </p:sp>
        <p:sp>
          <p:nvSpPr>
            <p:cNvPr id="9" name="TextBox 8">
              <a:extLst>
                <a:ext uri="{FF2B5EF4-FFF2-40B4-BE49-F238E27FC236}">
                  <a16:creationId xmlns:a16="http://schemas.microsoft.com/office/drawing/2014/main" id="{A4748B1C-42CB-6749-5293-A272457B47CE}"/>
                </a:ext>
              </a:extLst>
            </p:cNvPr>
            <p:cNvSpPr txBox="1"/>
            <p:nvPr/>
          </p:nvSpPr>
          <p:spPr>
            <a:xfrm>
              <a:off x="1970836" y="2298612"/>
              <a:ext cx="1328048" cy="840005"/>
            </a:xfrm>
            <a:prstGeom prst="rect">
              <a:avLst/>
            </a:prstGeom>
            <a:noFill/>
          </p:spPr>
          <p:txBody>
            <a:bodyPr wrap="square" rtlCol="0">
              <a:spAutoFit/>
            </a:bodyPr>
            <a:lstStyle/>
            <a:p>
              <a:r>
                <a:rPr lang="en-US" sz="1200" dirty="0">
                  <a:solidFill>
                    <a:srgbClr val="FF0000"/>
                  </a:solidFill>
                </a:rPr>
                <a:t>Peg holes are check boxes or radio buttons laid out on</a:t>
              </a:r>
            </a:p>
            <a:p>
              <a:r>
                <a:rPr lang="en-US" sz="1200">
                  <a:solidFill>
                    <a:srgbClr val="FF0000"/>
                  </a:solidFill>
                </a:rPr>
                <a:t>Grid-3 </a:t>
              </a:r>
              <a:r>
                <a:rPr lang="en-US" sz="1200" dirty="0">
                  <a:solidFill>
                    <a:srgbClr val="FF0000"/>
                  </a:solidFill>
                </a:rPr>
                <a:t>(0-31,0-1)</a:t>
              </a:r>
            </a:p>
          </p:txBody>
        </p:sp>
      </p:grpSp>
      <p:sp>
        <p:nvSpPr>
          <p:cNvPr id="12" name="TextBox 11">
            <a:extLst>
              <a:ext uri="{FF2B5EF4-FFF2-40B4-BE49-F238E27FC236}">
                <a16:creationId xmlns:a16="http://schemas.microsoft.com/office/drawing/2014/main" id="{ADB639DE-BEA3-F1E9-479E-B8A8A0138B4A}"/>
              </a:ext>
            </a:extLst>
          </p:cNvPr>
          <p:cNvSpPr txBox="1"/>
          <p:nvPr/>
        </p:nvSpPr>
        <p:spPr>
          <a:xfrm>
            <a:off x="4069385" y="181331"/>
            <a:ext cx="1073400" cy="276999"/>
          </a:xfrm>
          <a:prstGeom prst="rect">
            <a:avLst/>
          </a:prstGeom>
          <a:noFill/>
        </p:spPr>
        <p:txBody>
          <a:bodyPr wrap="square" rtlCol="0">
            <a:spAutoFit/>
          </a:bodyPr>
          <a:lstStyle/>
          <a:p>
            <a:r>
              <a:rPr lang="en-US" sz="1200" dirty="0">
                <a:solidFill>
                  <a:srgbClr val="FF0000"/>
                </a:solidFill>
              </a:rPr>
              <a:t>1Grid-1 (0,1)</a:t>
            </a:r>
          </a:p>
        </p:txBody>
      </p:sp>
      <p:grpSp>
        <p:nvGrpSpPr>
          <p:cNvPr id="14" name="Group 13">
            <a:extLst>
              <a:ext uri="{FF2B5EF4-FFF2-40B4-BE49-F238E27FC236}">
                <a16:creationId xmlns:a16="http://schemas.microsoft.com/office/drawing/2014/main" id="{57C4B5BC-F63B-8801-69B9-95A2563921AF}"/>
              </a:ext>
            </a:extLst>
          </p:cNvPr>
          <p:cNvGrpSpPr/>
          <p:nvPr/>
        </p:nvGrpSpPr>
        <p:grpSpPr>
          <a:xfrm>
            <a:off x="3529411" y="2274359"/>
            <a:ext cx="1073400" cy="1347825"/>
            <a:chOff x="3815179" y="1153973"/>
            <a:chExt cx="1073400" cy="1347825"/>
          </a:xfrm>
        </p:grpSpPr>
        <p:sp>
          <p:nvSpPr>
            <p:cNvPr id="11" name="Rectangle: Rounded Corners 10">
              <a:extLst>
                <a:ext uri="{FF2B5EF4-FFF2-40B4-BE49-F238E27FC236}">
                  <a16:creationId xmlns:a16="http://schemas.microsoft.com/office/drawing/2014/main" id="{CDA4FE90-C4E3-0485-A83C-632232729481}"/>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QH</a:t>
              </a:r>
            </a:p>
          </p:txBody>
        </p:sp>
        <p:sp>
          <p:nvSpPr>
            <p:cNvPr id="13" name="TextBox 12">
              <a:extLst>
                <a:ext uri="{FF2B5EF4-FFF2-40B4-BE49-F238E27FC236}">
                  <a16:creationId xmlns:a16="http://schemas.microsoft.com/office/drawing/2014/main" id="{6A7A42A6-82F9-7496-A3C5-B06A31DEA920}"/>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(0,0)</a:t>
              </a:r>
            </a:p>
          </p:txBody>
        </p:sp>
      </p:grpSp>
      <p:sp>
        <p:nvSpPr>
          <p:cNvPr id="17" name="TextBox 16">
            <a:extLst>
              <a:ext uri="{FF2B5EF4-FFF2-40B4-BE49-F238E27FC236}">
                <a16:creationId xmlns:a16="http://schemas.microsoft.com/office/drawing/2014/main" id="{BF698E90-4AE0-19DC-14E0-F90A6E032C64}"/>
              </a:ext>
            </a:extLst>
          </p:cNvPr>
          <p:cNvSpPr txBox="1"/>
          <p:nvPr/>
        </p:nvSpPr>
        <p:spPr>
          <a:xfrm>
            <a:off x="5172046" y="124357"/>
            <a:ext cx="6889172" cy="1872887"/>
          </a:xfrm>
          <a:prstGeom prst="rect">
            <a:avLst/>
          </a:prstGeom>
          <a:noFill/>
          <a:ln>
            <a:solidFill>
              <a:schemeClr val="accent1"/>
            </a:solidFill>
          </a:ln>
        </p:spPr>
        <p:txBody>
          <a:bodyPr wrap="square" rtlCol="0">
            <a:noAutofit/>
          </a:bodyPr>
          <a:lstStyle/>
          <a:p>
            <a:r>
              <a:rPr lang="en-US" dirty="0"/>
              <a:t>Crib</a:t>
            </a:r>
          </a:p>
        </p:txBody>
      </p:sp>
      <p:sp>
        <p:nvSpPr>
          <p:cNvPr id="20" name="TextBox 19">
            <a:extLst>
              <a:ext uri="{FF2B5EF4-FFF2-40B4-BE49-F238E27FC236}">
                <a16:creationId xmlns:a16="http://schemas.microsoft.com/office/drawing/2014/main" id="{B112E086-9DCC-EEC5-F3B4-D4D5E645CBEE}"/>
              </a:ext>
            </a:extLst>
          </p:cNvPr>
          <p:cNvSpPr txBox="1"/>
          <p:nvPr/>
        </p:nvSpPr>
        <p:spPr>
          <a:xfrm>
            <a:off x="10981551" y="2003372"/>
            <a:ext cx="1073400" cy="276999"/>
          </a:xfrm>
          <a:prstGeom prst="rect">
            <a:avLst/>
          </a:prstGeom>
          <a:noFill/>
        </p:spPr>
        <p:txBody>
          <a:bodyPr wrap="square" rtlCol="0">
            <a:spAutoFit/>
          </a:bodyPr>
          <a:lstStyle/>
          <a:p>
            <a:r>
              <a:rPr lang="en-US" sz="1200" dirty="0">
                <a:solidFill>
                  <a:srgbClr val="FF0000"/>
                </a:solidFill>
              </a:rPr>
              <a:t>Grid-1 (1,1-2)</a:t>
            </a:r>
          </a:p>
        </p:txBody>
      </p:sp>
      <p:grpSp>
        <p:nvGrpSpPr>
          <p:cNvPr id="22" name="Group 21">
            <a:extLst>
              <a:ext uri="{FF2B5EF4-FFF2-40B4-BE49-F238E27FC236}">
                <a16:creationId xmlns:a16="http://schemas.microsoft.com/office/drawing/2014/main" id="{343AE9A2-CFC8-107B-BC1B-FFFF4D376AE6}"/>
              </a:ext>
            </a:extLst>
          </p:cNvPr>
          <p:cNvGrpSpPr/>
          <p:nvPr/>
        </p:nvGrpSpPr>
        <p:grpSpPr>
          <a:xfrm>
            <a:off x="3798292" y="502865"/>
            <a:ext cx="1073400" cy="1347825"/>
            <a:chOff x="3815179" y="1153973"/>
            <a:chExt cx="1073400" cy="1347825"/>
          </a:xfrm>
        </p:grpSpPr>
        <p:sp>
          <p:nvSpPr>
            <p:cNvPr id="23" name="Rectangle: Rounded Corners 22">
              <a:extLst>
                <a:ext uri="{FF2B5EF4-FFF2-40B4-BE49-F238E27FC236}">
                  <a16:creationId xmlns:a16="http://schemas.microsoft.com/office/drawing/2014/main" id="{E4E9AE66-D4AD-083D-3291-2E967F7FD9E7}"/>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9H</a:t>
              </a:r>
            </a:p>
          </p:txBody>
        </p:sp>
        <p:sp>
          <p:nvSpPr>
            <p:cNvPr id="24" name="TextBox 23">
              <a:extLst>
                <a:ext uri="{FF2B5EF4-FFF2-40B4-BE49-F238E27FC236}">
                  <a16:creationId xmlns:a16="http://schemas.microsoft.com/office/drawing/2014/main" id="{DDDB0C11-AC15-B15B-8FAA-B44F6D106A0A}"/>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(0,0)</a:t>
              </a:r>
            </a:p>
          </p:txBody>
        </p:sp>
      </p:grpSp>
      <p:sp>
        <p:nvSpPr>
          <p:cNvPr id="26" name="Rectangle: Rounded Corners 25">
            <a:extLst>
              <a:ext uri="{FF2B5EF4-FFF2-40B4-BE49-F238E27FC236}">
                <a16:creationId xmlns:a16="http://schemas.microsoft.com/office/drawing/2014/main" id="{EC832391-AB08-66D2-3ADB-ABCD6AE29211}"/>
              </a:ext>
            </a:extLst>
          </p:cNvPr>
          <p:cNvSpPr/>
          <p:nvPr/>
        </p:nvSpPr>
        <p:spPr>
          <a:xfrm>
            <a:off x="5473874" y="2284680"/>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27" name="TextBox 26">
            <a:extLst>
              <a:ext uri="{FF2B5EF4-FFF2-40B4-BE49-F238E27FC236}">
                <a16:creationId xmlns:a16="http://schemas.microsoft.com/office/drawing/2014/main" id="{C7E76ECA-6402-3293-B515-31A09A9F9B30}"/>
              </a:ext>
            </a:extLst>
          </p:cNvPr>
          <p:cNvSpPr txBox="1"/>
          <p:nvPr/>
        </p:nvSpPr>
        <p:spPr>
          <a:xfrm>
            <a:off x="5473874" y="2363506"/>
            <a:ext cx="1073400" cy="276999"/>
          </a:xfrm>
          <a:prstGeom prst="rect">
            <a:avLst/>
          </a:prstGeom>
          <a:noFill/>
        </p:spPr>
        <p:txBody>
          <a:bodyPr wrap="square" rtlCol="0">
            <a:spAutoFit/>
          </a:bodyPr>
          <a:lstStyle/>
          <a:p>
            <a:r>
              <a:rPr lang="en-US" sz="1200" dirty="0">
                <a:solidFill>
                  <a:srgbClr val="FF0000"/>
                </a:solidFill>
              </a:rPr>
              <a:t>Grid-2 (0,2)</a:t>
            </a:r>
          </a:p>
        </p:txBody>
      </p:sp>
      <p:grpSp>
        <p:nvGrpSpPr>
          <p:cNvPr id="28" name="Group 27">
            <a:extLst>
              <a:ext uri="{FF2B5EF4-FFF2-40B4-BE49-F238E27FC236}">
                <a16:creationId xmlns:a16="http://schemas.microsoft.com/office/drawing/2014/main" id="{A7F3108C-4F97-3FC6-7E75-7A7677BA9DA1}"/>
              </a:ext>
            </a:extLst>
          </p:cNvPr>
          <p:cNvGrpSpPr/>
          <p:nvPr/>
        </p:nvGrpSpPr>
        <p:grpSpPr>
          <a:xfrm>
            <a:off x="4502673" y="2297233"/>
            <a:ext cx="1073400" cy="1347825"/>
            <a:chOff x="3815179" y="1153973"/>
            <a:chExt cx="1073400" cy="1347825"/>
          </a:xfrm>
        </p:grpSpPr>
        <p:sp>
          <p:nvSpPr>
            <p:cNvPr id="29" name="Rectangle: Rounded Corners 28">
              <a:extLst>
                <a:ext uri="{FF2B5EF4-FFF2-40B4-BE49-F238E27FC236}">
                  <a16:creationId xmlns:a16="http://schemas.microsoft.com/office/drawing/2014/main" id="{BFC6CD2E-C0C2-7824-806D-08C14C9BE2B0}"/>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6C</a:t>
              </a:r>
            </a:p>
          </p:txBody>
        </p:sp>
        <p:sp>
          <p:nvSpPr>
            <p:cNvPr id="30" name="TextBox 29">
              <a:extLst>
                <a:ext uri="{FF2B5EF4-FFF2-40B4-BE49-F238E27FC236}">
                  <a16:creationId xmlns:a16="http://schemas.microsoft.com/office/drawing/2014/main" id="{7C5DC42A-F061-F5D0-E2FD-57A4696CDE19}"/>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(0,1)</a:t>
              </a:r>
            </a:p>
          </p:txBody>
        </p:sp>
      </p:grpSp>
      <p:sp>
        <p:nvSpPr>
          <p:cNvPr id="32" name="Rectangle: Rounded Corners 31">
            <a:extLst>
              <a:ext uri="{FF2B5EF4-FFF2-40B4-BE49-F238E27FC236}">
                <a16:creationId xmlns:a16="http://schemas.microsoft.com/office/drawing/2014/main" id="{22B87102-D410-9D40-A1E2-357F9C24D0AF}"/>
              </a:ext>
            </a:extLst>
          </p:cNvPr>
          <p:cNvSpPr/>
          <p:nvPr/>
        </p:nvSpPr>
        <p:spPr>
          <a:xfrm>
            <a:off x="6410544" y="2280371"/>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3" name="TextBox 32">
            <a:extLst>
              <a:ext uri="{FF2B5EF4-FFF2-40B4-BE49-F238E27FC236}">
                <a16:creationId xmlns:a16="http://schemas.microsoft.com/office/drawing/2014/main" id="{27BDDAB9-1161-A47F-AE0B-B16AFE581A0D}"/>
              </a:ext>
            </a:extLst>
          </p:cNvPr>
          <p:cNvSpPr txBox="1"/>
          <p:nvPr/>
        </p:nvSpPr>
        <p:spPr>
          <a:xfrm>
            <a:off x="6396300" y="2324664"/>
            <a:ext cx="1073400" cy="276999"/>
          </a:xfrm>
          <a:prstGeom prst="rect">
            <a:avLst/>
          </a:prstGeom>
          <a:noFill/>
        </p:spPr>
        <p:txBody>
          <a:bodyPr wrap="square" rtlCol="0">
            <a:spAutoFit/>
          </a:bodyPr>
          <a:lstStyle/>
          <a:p>
            <a:r>
              <a:rPr lang="en-US" sz="1200" dirty="0">
                <a:solidFill>
                  <a:srgbClr val="FF0000"/>
                </a:solidFill>
              </a:rPr>
              <a:t>Grid-2 (0,3)</a:t>
            </a:r>
          </a:p>
        </p:txBody>
      </p:sp>
      <p:grpSp>
        <p:nvGrpSpPr>
          <p:cNvPr id="34" name="Group 33">
            <a:extLst>
              <a:ext uri="{FF2B5EF4-FFF2-40B4-BE49-F238E27FC236}">
                <a16:creationId xmlns:a16="http://schemas.microsoft.com/office/drawing/2014/main" id="{362E5747-3269-7254-62A5-DDEA3882C32C}"/>
              </a:ext>
            </a:extLst>
          </p:cNvPr>
          <p:cNvGrpSpPr/>
          <p:nvPr/>
        </p:nvGrpSpPr>
        <p:grpSpPr>
          <a:xfrm>
            <a:off x="5760111" y="394212"/>
            <a:ext cx="1073400" cy="1347825"/>
            <a:chOff x="3815179" y="1153973"/>
            <a:chExt cx="1073400" cy="1347825"/>
          </a:xfrm>
        </p:grpSpPr>
        <p:sp>
          <p:nvSpPr>
            <p:cNvPr id="35" name="Rectangle: Rounded Corners 34">
              <a:extLst>
                <a:ext uri="{FF2B5EF4-FFF2-40B4-BE49-F238E27FC236}">
                  <a16:creationId xmlns:a16="http://schemas.microsoft.com/office/drawing/2014/main" id="{1204C15B-4BA5-EE63-68F5-16E4D9B5AA5B}"/>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6" name="TextBox 35">
              <a:extLst>
                <a:ext uri="{FF2B5EF4-FFF2-40B4-BE49-F238E27FC236}">
                  <a16:creationId xmlns:a16="http://schemas.microsoft.com/office/drawing/2014/main" id="{0B38137C-90F2-3D06-0E18-11870C0F11B5}"/>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(0,0)</a:t>
              </a:r>
            </a:p>
          </p:txBody>
        </p:sp>
      </p:grpSp>
      <p:grpSp>
        <p:nvGrpSpPr>
          <p:cNvPr id="37" name="Group 36">
            <a:extLst>
              <a:ext uri="{FF2B5EF4-FFF2-40B4-BE49-F238E27FC236}">
                <a16:creationId xmlns:a16="http://schemas.microsoft.com/office/drawing/2014/main" id="{E7B0C737-D430-D193-2FA4-5D4526B94B5F}"/>
              </a:ext>
            </a:extLst>
          </p:cNvPr>
          <p:cNvGrpSpPr/>
          <p:nvPr/>
        </p:nvGrpSpPr>
        <p:grpSpPr>
          <a:xfrm>
            <a:off x="7697329" y="419000"/>
            <a:ext cx="1073400" cy="1347825"/>
            <a:chOff x="3815179" y="1153973"/>
            <a:chExt cx="1073400" cy="1347825"/>
          </a:xfrm>
        </p:grpSpPr>
        <p:sp>
          <p:nvSpPr>
            <p:cNvPr id="38" name="Rectangle: Rounded Corners 37">
              <a:extLst>
                <a:ext uri="{FF2B5EF4-FFF2-40B4-BE49-F238E27FC236}">
                  <a16:creationId xmlns:a16="http://schemas.microsoft.com/office/drawing/2014/main" id="{CE2CBAF2-D2BA-9475-F44A-0C96525D9AB4}"/>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39" name="TextBox 38">
              <a:extLst>
                <a:ext uri="{FF2B5EF4-FFF2-40B4-BE49-F238E27FC236}">
                  <a16:creationId xmlns:a16="http://schemas.microsoft.com/office/drawing/2014/main" id="{B27F5665-A831-3A6E-E8C5-1D9E1059F849}"/>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(0,2)</a:t>
              </a:r>
            </a:p>
          </p:txBody>
        </p:sp>
      </p:grpSp>
      <p:grpSp>
        <p:nvGrpSpPr>
          <p:cNvPr id="40" name="Group 39">
            <a:extLst>
              <a:ext uri="{FF2B5EF4-FFF2-40B4-BE49-F238E27FC236}">
                <a16:creationId xmlns:a16="http://schemas.microsoft.com/office/drawing/2014/main" id="{63CF86DC-929D-7967-9113-9D8B2006243E}"/>
              </a:ext>
            </a:extLst>
          </p:cNvPr>
          <p:cNvGrpSpPr/>
          <p:nvPr/>
        </p:nvGrpSpPr>
        <p:grpSpPr>
          <a:xfrm>
            <a:off x="6709461" y="421177"/>
            <a:ext cx="1073400" cy="1347825"/>
            <a:chOff x="3815179" y="1153973"/>
            <a:chExt cx="1073400" cy="1347825"/>
          </a:xfrm>
        </p:grpSpPr>
        <p:sp>
          <p:nvSpPr>
            <p:cNvPr id="41" name="Rectangle: Rounded Corners 40">
              <a:extLst>
                <a:ext uri="{FF2B5EF4-FFF2-40B4-BE49-F238E27FC236}">
                  <a16:creationId xmlns:a16="http://schemas.microsoft.com/office/drawing/2014/main" id="{71151ECE-8B45-6A20-D4CD-7C25F2FE1520}"/>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2" name="TextBox 41">
              <a:extLst>
                <a:ext uri="{FF2B5EF4-FFF2-40B4-BE49-F238E27FC236}">
                  <a16:creationId xmlns:a16="http://schemas.microsoft.com/office/drawing/2014/main" id="{1BA2C7B6-682A-4E3E-D1CE-D838D077562F}"/>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(0,1)</a:t>
              </a:r>
            </a:p>
          </p:txBody>
        </p:sp>
      </p:grpSp>
      <p:grpSp>
        <p:nvGrpSpPr>
          <p:cNvPr id="43" name="Group 42">
            <a:extLst>
              <a:ext uri="{FF2B5EF4-FFF2-40B4-BE49-F238E27FC236}">
                <a16:creationId xmlns:a16="http://schemas.microsoft.com/office/drawing/2014/main" id="{D9168613-C999-7AB2-932E-9D6C5E5458F8}"/>
              </a:ext>
            </a:extLst>
          </p:cNvPr>
          <p:cNvGrpSpPr/>
          <p:nvPr/>
        </p:nvGrpSpPr>
        <p:grpSpPr>
          <a:xfrm>
            <a:off x="8646679" y="411184"/>
            <a:ext cx="1073400" cy="1347825"/>
            <a:chOff x="3815179" y="1153973"/>
            <a:chExt cx="1073400" cy="1347825"/>
          </a:xfrm>
        </p:grpSpPr>
        <p:sp>
          <p:nvSpPr>
            <p:cNvPr id="44" name="Rectangle: Rounded Corners 43">
              <a:extLst>
                <a:ext uri="{FF2B5EF4-FFF2-40B4-BE49-F238E27FC236}">
                  <a16:creationId xmlns:a16="http://schemas.microsoft.com/office/drawing/2014/main" id="{E686572F-6F08-2389-4A3D-FD6EC3F964A4}"/>
                </a:ext>
              </a:extLst>
            </p:cNvPr>
            <p:cNvSpPr/>
            <p:nvPr/>
          </p:nvSpPr>
          <p:spPr>
            <a:xfrm>
              <a:off x="3815179" y="1153973"/>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44">
              <a:extLst>
                <a:ext uri="{FF2B5EF4-FFF2-40B4-BE49-F238E27FC236}">
                  <a16:creationId xmlns:a16="http://schemas.microsoft.com/office/drawing/2014/main" id="{D28F6FAC-8153-408B-CBE1-D545BEDF0A5E}"/>
                </a:ext>
              </a:extLst>
            </p:cNvPr>
            <p:cNvSpPr txBox="1"/>
            <p:nvPr/>
          </p:nvSpPr>
          <p:spPr>
            <a:xfrm>
              <a:off x="3815179" y="1290782"/>
              <a:ext cx="1073400" cy="276999"/>
            </a:xfrm>
            <a:prstGeom prst="rect">
              <a:avLst/>
            </a:prstGeom>
            <a:noFill/>
          </p:spPr>
          <p:txBody>
            <a:bodyPr wrap="square" rtlCol="0">
              <a:spAutoFit/>
            </a:bodyPr>
            <a:lstStyle/>
            <a:p>
              <a:r>
                <a:rPr lang="en-US" sz="1200" dirty="0">
                  <a:solidFill>
                    <a:srgbClr val="FF0000"/>
                  </a:solidFill>
                </a:rPr>
                <a:t>Grid-2 (0,3)</a:t>
              </a:r>
            </a:p>
          </p:txBody>
        </p:sp>
      </p:grpSp>
      <p:sp>
        <p:nvSpPr>
          <p:cNvPr id="47" name="Rectangle: Rounded Corners 46">
            <a:extLst>
              <a:ext uri="{FF2B5EF4-FFF2-40B4-BE49-F238E27FC236}">
                <a16:creationId xmlns:a16="http://schemas.microsoft.com/office/drawing/2014/main" id="{8A9051EA-F7FC-5822-1A07-0178B4893C79}"/>
              </a:ext>
            </a:extLst>
          </p:cNvPr>
          <p:cNvSpPr/>
          <p:nvPr/>
        </p:nvSpPr>
        <p:spPr>
          <a:xfrm>
            <a:off x="3394219" y="3893261"/>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KH</a:t>
            </a:r>
          </a:p>
        </p:txBody>
      </p:sp>
      <p:sp>
        <p:nvSpPr>
          <p:cNvPr id="48" name="TextBox 47">
            <a:extLst>
              <a:ext uri="{FF2B5EF4-FFF2-40B4-BE49-F238E27FC236}">
                <a16:creationId xmlns:a16="http://schemas.microsoft.com/office/drawing/2014/main" id="{D223CACA-90B8-93FA-7C06-E59994F0681B}"/>
              </a:ext>
            </a:extLst>
          </p:cNvPr>
          <p:cNvSpPr txBox="1"/>
          <p:nvPr/>
        </p:nvSpPr>
        <p:spPr>
          <a:xfrm>
            <a:off x="3377169" y="3935811"/>
            <a:ext cx="1073400" cy="276999"/>
          </a:xfrm>
          <a:prstGeom prst="rect">
            <a:avLst/>
          </a:prstGeom>
          <a:noFill/>
        </p:spPr>
        <p:txBody>
          <a:bodyPr wrap="square" rtlCol="0">
            <a:spAutoFit/>
          </a:bodyPr>
          <a:lstStyle/>
          <a:p>
            <a:r>
              <a:rPr lang="en-US" sz="1200" dirty="0">
                <a:solidFill>
                  <a:srgbClr val="FF0000"/>
                </a:solidFill>
              </a:rPr>
              <a:t>Grid-2 (0,0)</a:t>
            </a:r>
          </a:p>
        </p:txBody>
      </p:sp>
      <p:sp>
        <p:nvSpPr>
          <p:cNvPr id="49" name="TextBox 48">
            <a:extLst>
              <a:ext uri="{FF2B5EF4-FFF2-40B4-BE49-F238E27FC236}">
                <a16:creationId xmlns:a16="http://schemas.microsoft.com/office/drawing/2014/main" id="{925529E7-B3DC-B8AE-7DB6-A1FFF6BEBBBE}"/>
              </a:ext>
            </a:extLst>
          </p:cNvPr>
          <p:cNvSpPr txBox="1"/>
          <p:nvPr/>
        </p:nvSpPr>
        <p:spPr>
          <a:xfrm>
            <a:off x="4777555" y="3658942"/>
            <a:ext cx="1073400" cy="276999"/>
          </a:xfrm>
          <a:prstGeom prst="rect">
            <a:avLst/>
          </a:prstGeom>
          <a:noFill/>
        </p:spPr>
        <p:txBody>
          <a:bodyPr wrap="square" rtlCol="0">
            <a:spAutoFit/>
          </a:bodyPr>
          <a:lstStyle/>
          <a:p>
            <a:r>
              <a:rPr lang="en-US" sz="1200" dirty="0">
                <a:solidFill>
                  <a:srgbClr val="FF0000"/>
                </a:solidFill>
              </a:rPr>
              <a:t>Grid-1 (2,1-2)</a:t>
            </a:r>
          </a:p>
        </p:txBody>
      </p:sp>
      <p:sp>
        <p:nvSpPr>
          <p:cNvPr id="50" name="TextBox 49">
            <a:extLst>
              <a:ext uri="{FF2B5EF4-FFF2-40B4-BE49-F238E27FC236}">
                <a16:creationId xmlns:a16="http://schemas.microsoft.com/office/drawing/2014/main" id="{F9637D72-AA88-04DB-22C4-DC1C45AAFCAE}"/>
              </a:ext>
            </a:extLst>
          </p:cNvPr>
          <p:cNvSpPr txBox="1"/>
          <p:nvPr/>
        </p:nvSpPr>
        <p:spPr>
          <a:xfrm>
            <a:off x="11055109" y="117213"/>
            <a:ext cx="1073400" cy="276999"/>
          </a:xfrm>
          <a:prstGeom prst="rect">
            <a:avLst/>
          </a:prstGeom>
          <a:noFill/>
        </p:spPr>
        <p:txBody>
          <a:bodyPr wrap="square" rtlCol="0">
            <a:spAutoFit/>
          </a:bodyPr>
          <a:lstStyle/>
          <a:p>
            <a:r>
              <a:rPr lang="en-US" sz="1200" dirty="0">
                <a:solidFill>
                  <a:srgbClr val="FF0000"/>
                </a:solidFill>
              </a:rPr>
              <a:t>Grid-1 (0,2)</a:t>
            </a:r>
          </a:p>
        </p:txBody>
      </p:sp>
      <p:sp>
        <p:nvSpPr>
          <p:cNvPr id="52" name="Rectangle: Rounded Corners 51">
            <a:extLst>
              <a:ext uri="{FF2B5EF4-FFF2-40B4-BE49-F238E27FC236}">
                <a16:creationId xmlns:a16="http://schemas.microsoft.com/office/drawing/2014/main" id="{B03325E8-23D3-621B-D9E3-228CEB9EFFFF}"/>
              </a:ext>
            </a:extLst>
          </p:cNvPr>
          <p:cNvSpPr/>
          <p:nvPr/>
        </p:nvSpPr>
        <p:spPr>
          <a:xfrm>
            <a:off x="4302537" y="3903254"/>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5S</a:t>
            </a:r>
          </a:p>
        </p:txBody>
      </p:sp>
      <p:sp>
        <p:nvSpPr>
          <p:cNvPr id="53" name="TextBox 52">
            <a:extLst>
              <a:ext uri="{FF2B5EF4-FFF2-40B4-BE49-F238E27FC236}">
                <a16:creationId xmlns:a16="http://schemas.microsoft.com/office/drawing/2014/main" id="{5BFBDA40-4CBD-675D-18CE-395BB99F92C1}"/>
              </a:ext>
            </a:extLst>
          </p:cNvPr>
          <p:cNvSpPr txBox="1"/>
          <p:nvPr/>
        </p:nvSpPr>
        <p:spPr>
          <a:xfrm>
            <a:off x="4319332" y="3926882"/>
            <a:ext cx="1073400" cy="276999"/>
          </a:xfrm>
          <a:prstGeom prst="rect">
            <a:avLst/>
          </a:prstGeom>
          <a:noFill/>
        </p:spPr>
        <p:txBody>
          <a:bodyPr wrap="square" rtlCol="0">
            <a:spAutoFit/>
          </a:bodyPr>
          <a:lstStyle/>
          <a:p>
            <a:r>
              <a:rPr lang="en-US" sz="1200" dirty="0">
                <a:solidFill>
                  <a:srgbClr val="FF0000"/>
                </a:solidFill>
              </a:rPr>
              <a:t>Grid-2 (0,1)</a:t>
            </a:r>
          </a:p>
        </p:txBody>
      </p:sp>
      <p:sp>
        <p:nvSpPr>
          <p:cNvPr id="55" name="Rectangle: Rounded Corners 54">
            <a:extLst>
              <a:ext uri="{FF2B5EF4-FFF2-40B4-BE49-F238E27FC236}">
                <a16:creationId xmlns:a16="http://schemas.microsoft.com/office/drawing/2014/main" id="{57091689-FF3E-0FCD-F23F-5FAE19E71A60}"/>
              </a:ext>
            </a:extLst>
          </p:cNvPr>
          <p:cNvSpPr/>
          <p:nvPr/>
        </p:nvSpPr>
        <p:spPr>
          <a:xfrm>
            <a:off x="5204732" y="3903254"/>
            <a:ext cx="891268" cy="134782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5D</a:t>
            </a:r>
          </a:p>
        </p:txBody>
      </p:sp>
      <p:sp>
        <p:nvSpPr>
          <p:cNvPr id="56" name="TextBox 55">
            <a:extLst>
              <a:ext uri="{FF2B5EF4-FFF2-40B4-BE49-F238E27FC236}">
                <a16:creationId xmlns:a16="http://schemas.microsoft.com/office/drawing/2014/main" id="{066DE519-D912-9A33-5E33-1A5705CBAC36}"/>
              </a:ext>
            </a:extLst>
          </p:cNvPr>
          <p:cNvSpPr txBox="1"/>
          <p:nvPr/>
        </p:nvSpPr>
        <p:spPr>
          <a:xfrm>
            <a:off x="5223411" y="3902203"/>
            <a:ext cx="1073400" cy="276999"/>
          </a:xfrm>
          <a:prstGeom prst="rect">
            <a:avLst/>
          </a:prstGeom>
          <a:noFill/>
        </p:spPr>
        <p:txBody>
          <a:bodyPr wrap="square" rtlCol="0">
            <a:spAutoFit/>
          </a:bodyPr>
          <a:lstStyle/>
          <a:p>
            <a:r>
              <a:rPr lang="en-US" sz="1200" dirty="0">
                <a:solidFill>
                  <a:srgbClr val="FF0000"/>
                </a:solidFill>
              </a:rPr>
              <a:t>Grid-2 (0,2)</a:t>
            </a:r>
          </a:p>
        </p:txBody>
      </p:sp>
      <p:sp>
        <p:nvSpPr>
          <p:cNvPr id="58" name="Rectangle: Rounded Corners 57">
            <a:extLst>
              <a:ext uri="{FF2B5EF4-FFF2-40B4-BE49-F238E27FC236}">
                <a16:creationId xmlns:a16="http://schemas.microsoft.com/office/drawing/2014/main" id="{E4691C00-FB3C-5285-3DBA-F175B73E744E}"/>
              </a:ext>
            </a:extLst>
          </p:cNvPr>
          <p:cNvSpPr/>
          <p:nvPr/>
        </p:nvSpPr>
        <p:spPr>
          <a:xfrm>
            <a:off x="6108405" y="3926882"/>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59" name="TextBox 58">
            <a:extLst>
              <a:ext uri="{FF2B5EF4-FFF2-40B4-BE49-F238E27FC236}">
                <a16:creationId xmlns:a16="http://schemas.microsoft.com/office/drawing/2014/main" id="{2D98810B-F604-E76F-CD3E-089D1713CCC8}"/>
              </a:ext>
            </a:extLst>
          </p:cNvPr>
          <p:cNvSpPr txBox="1"/>
          <p:nvPr/>
        </p:nvSpPr>
        <p:spPr>
          <a:xfrm>
            <a:off x="6127898" y="3933596"/>
            <a:ext cx="1073400" cy="276999"/>
          </a:xfrm>
          <a:prstGeom prst="rect">
            <a:avLst/>
          </a:prstGeom>
          <a:noFill/>
        </p:spPr>
        <p:txBody>
          <a:bodyPr wrap="square" rtlCol="0">
            <a:spAutoFit/>
          </a:bodyPr>
          <a:lstStyle/>
          <a:p>
            <a:r>
              <a:rPr lang="en-US" sz="1200" dirty="0">
                <a:solidFill>
                  <a:srgbClr val="FF0000"/>
                </a:solidFill>
              </a:rPr>
              <a:t>Grid-2 (0,3)</a:t>
            </a:r>
          </a:p>
        </p:txBody>
      </p:sp>
      <p:sp>
        <p:nvSpPr>
          <p:cNvPr id="61" name="Rectangle: Rounded Corners 60">
            <a:extLst>
              <a:ext uri="{FF2B5EF4-FFF2-40B4-BE49-F238E27FC236}">
                <a16:creationId xmlns:a16="http://schemas.microsoft.com/office/drawing/2014/main" id="{D504EDF9-34F3-777E-7E3F-B7C5487BC73E}"/>
              </a:ext>
            </a:extLst>
          </p:cNvPr>
          <p:cNvSpPr/>
          <p:nvPr/>
        </p:nvSpPr>
        <p:spPr>
          <a:xfrm>
            <a:off x="7020847" y="3926881"/>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2" name="TextBox 61">
            <a:extLst>
              <a:ext uri="{FF2B5EF4-FFF2-40B4-BE49-F238E27FC236}">
                <a16:creationId xmlns:a16="http://schemas.microsoft.com/office/drawing/2014/main" id="{2AB62308-E50F-87AD-EB57-B893A749B0F5}"/>
              </a:ext>
            </a:extLst>
          </p:cNvPr>
          <p:cNvSpPr txBox="1"/>
          <p:nvPr/>
        </p:nvSpPr>
        <p:spPr>
          <a:xfrm>
            <a:off x="7033924" y="3947515"/>
            <a:ext cx="1073400" cy="276999"/>
          </a:xfrm>
          <a:prstGeom prst="rect">
            <a:avLst/>
          </a:prstGeom>
          <a:noFill/>
        </p:spPr>
        <p:txBody>
          <a:bodyPr wrap="square" rtlCol="0">
            <a:spAutoFit/>
          </a:bodyPr>
          <a:lstStyle/>
          <a:p>
            <a:r>
              <a:rPr lang="en-US" sz="1200" dirty="0">
                <a:solidFill>
                  <a:srgbClr val="FF0000"/>
                </a:solidFill>
              </a:rPr>
              <a:t>Grid-2 (0,4)</a:t>
            </a:r>
          </a:p>
        </p:txBody>
      </p:sp>
      <p:sp>
        <p:nvSpPr>
          <p:cNvPr id="64" name="Rectangle: Rounded Corners 63">
            <a:extLst>
              <a:ext uri="{FF2B5EF4-FFF2-40B4-BE49-F238E27FC236}">
                <a16:creationId xmlns:a16="http://schemas.microsoft.com/office/drawing/2014/main" id="{DD029AD1-0885-0181-1888-4F7547C64AA8}"/>
              </a:ext>
            </a:extLst>
          </p:cNvPr>
          <p:cNvSpPr/>
          <p:nvPr/>
        </p:nvSpPr>
        <p:spPr>
          <a:xfrm>
            <a:off x="7933289" y="3933596"/>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5" name="TextBox 64">
            <a:extLst>
              <a:ext uri="{FF2B5EF4-FFF2-40B4-BE49-F238E27FC236}">
                <a16:creationId xmlns:a16="http://schemas.microsoft.com/office/drawing/2014/main" id="{B889F61C-D105-3556-232D-0561A79F4D3B}"/>
              </a:ext>
            </a:extLst>
          </p:cNvPr>
          <p:cNvSpPr txBox="1"/>
          <p:nvPr/>
        </p:nvSpPr>
        <p:spPr>
          <a:xfrm>
            <a:off x="7933289" y="3930636"/>
            <a:ext cx="1073400" cy="276999"/>
          </a:xfrm>
          <a:prstGeom prst="rect">
            <a:avLst/>
          </a:prstGeom>
          <a:noFill/>
        </p:spPr>
        <p:txBody>
          <a:bodyPr wrap="square" rtlCol="0">
            <a:spAutoFit/>
          </a:bodyPr>
          <a:lstStyle/>
          <a:p>
            <a:r>
              <a:rPr lang="en-US" sz="1200" dirty="0">
                <a:solidFill>
                  <a:srgbClr val="FF0000"/>
                </a:solidFill>
              </a:rPr>
              <a:t>Grid-2 (0,5)</a:t>
            </a:r>
          </a:p>
        </p:txBody>
      </p:sp>
      <p:sp>
        <p:nvSpPr>
          <p:cNvPr id="67" name="Rectangle: Rounded Corners 66">
            <a:extLst>
              <a:ext uri="{FF2B5EF4-FFF2-40B4-BE49-F238E27FC236}">
                <a16:creationId xmlns:a16="http://schemas.microsoft.com/office/drawing/2014/main" id="{64952D5E-6911-23C1-B91B-09345219494D}"/>
              </a:ext>
            </a:extLst>
          </p:cNvPr>
          <p:cNvSpPr/>
          <p:nvPr/>
        </p:nvSpPr>
        <p:spPr>
          <a:xfrm>
            <a:off x="8813106" y="3951789"/>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8" name="TextBox 67">
            <a:extLst>
              <a:ext uri="{FF2B5EF4-FFF2-40B4-BE49-F238E27FC236}">
                <a16:creationId xmlns:a16="http://schemas.microsoft.com/office/drawing/2014/main" id="{37091842-E16A-8EDB-346E-A60704051069}"/>
              </a:ext>
            </a:extLst>
          </p:cNvPr>
          <p:cNvSpPr txBox="1"/>
          <p:nvPr/>
        </p:nvSpPr>
        <p:spPr>
          <a:xfrm>
            <a:off x="8778912" y="3949612"/>
            <a:ext cx="1073400" cy="276999"/>
          </a:xfrm>
          <a:prstGeom prst="rect">
            <a:avLst/>
          </a:prstGeom>
          <a:noFill/>
        </p:spPr>
        <p:txBody>
          <a:bodyPr wrap="square" rtlCol="0">
            <a:spAutoFit/>
          </a:bodyPr>
          <a:lstStyle/>
          <a:p>
            <a:r>
              <a:rPr lang="en-US" sz="1200" dirty="0">
                <a:solidFill>
                  <a:srgbClr val="FF0000"/>
                </a:solidFill>
              </a:rPr>
              <a:t>Grid-2 (0,6)</a:t>
            </a:r>
          </a:p>
        </p:txBody>
      </p:sp>
      <p:sp>
        <p:nvSpPr>
          <p:cNvPr id="70" name="Rectangle: Rounded Corners 69">
            <a:extLst>
              <a:ext uri="{FF2B5EF4-FFF2-40B4-BE49-F238E27FC236}">
                <a16:creationId xmlns:a16="http://schemas.microsoft.com/office/drawing/2014/main" id="{B86CBDB4-D314-009F-8823-B16BC8973A51}"/>
              </a:ext>
            </a:extLst>
          </p:cNvPr>
          <p:cNvSpPr/>
          <p:nvPr/>
        </p:nvSpPr>
        <p:spPr>
          <a:xfrm>
            <a:off x="9738568" y="3938918"/>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1" name="TextBox 70">
            <a:extLst>
              <a:ext uri="{FF2B5EF4-FFF2-40B4-BE49-F238E27FC236}">
                <a16:creationId xmlns:a16="http://schemas.microsoft.com/office/drawing/2014/main" id="{438EFC6E-D17A-53F7-6622-7293D6DD417C}"/>
              </a:ext>
            </a:extLst>
          </p:cNvPr>
          <p:cNvSpPr txBox="1"/>
          <p:nvPr/>
        </p:nvSpPr>
        <p:spPr>
          <a:xfrm>
            <a:off x="9752895" y="3948385"/>
            <a:ext cx="1073400" cy="276999"/>
          </a:xfrm>
          <a:prstGeom prst="rect">
            <a:avLst/>
          </a:prstGeom>
          <a:noFill/>
        </p:spPr>
        <p:txBody>
          <a:bodyPr wrap="square" rtlCol="0">
            <a:spAutoFit/>
          </a:bodyPr>
          <a:lstStyle/>
          <a:p>
            <a:r>
              <a:rPr lang="en-US" sz="1200" dirty="0">
                <a:solidFill>
                  <a:srgbClr val="FF0000"/>
                </a:solidFill>
              </a:rPr>
              <a:t>Grid-2 (0,7)</a:t>
            </a:r>
          </a:p>
        </p:txBody>
      </p:sp>
      <p:sp>
        <p:nvSpPr>
          <p:cNvPr id="73" name="Rectangle: Rounded Corners 72">
            <a:extLst>
              <a:ext uri="{FF2B5EF4-FFF2-40B4-BE49-F238E27FC236}">
                <a16:creationId xmlns:a16="http://schemas.microsoft.com/office/drawing/2014/main" id="{A953441F-DD1B-7106-51AF-1F86DEAF97D6}"/>
              </a:ext>
            </a:extLst>
          </p:cNvPr>
          <p:cNvSpPr/>
          <p:nvPr/>
        </p:nvSpPr>
        <p:spPr>
          <a:xfrm>
            <a:off x="10639301" y="3926881"/>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74" name="TextBox 73">
            <a:extLst>
              <a:ext uri="{FF2B5EF4-FFF2-40B4-BE49-F238E27FC236}">
                <a16:creationId xmlns:a16="http://schemas.microsoft.com/office/drawing/2014/main" id="{F5341098-0657-3E7C-A62A-85118C6F2B10}"/>
              </a:ext>
            </a:extLst>
          </p:cNvPr>
          <p:cNvSpPr txBox="1"/>
          <p:nvPr/>
        </p:nvSpPr>
        <p:spPr>
          <a:xfrm>
            <a:off x="10655745" y="3920226"/>
            <a:ext cx="1073400" cy="276999"/>
          </a:xfrm>
          <a:prstGeom prst="rect">
            <a:avLst/>
          </a:prstGeom>
          <a:noFill/>
        </p:spPr>
        <p:txBody>
          <a:bodyPr wrap="square" rtlCol="0">
            <a:spAutoFit/>
          </a:bodyPr>
          <a:lstStyle/>
          <a:p>
            <a:r>
              <a:rPr lang="en-US" sz="1200" dirty="0">
                <a:solidFill>
                  <a:srgbClr val="FF0000"/>
                </a:solidFill>
              </a:rPr>
              <a:t>Grid-2 (0,8)</a:t>
            </a:r>
          </a:p>
        </p:txBody>
      </p:sp>
      <p:sp>
        <p:nvSpPr>
          <p:cNvPr id="75" name="TextBox 74">
            <a:extLst>
              <a:ext uri="{FF2B5EF4-FFF2-40B4-BE49-F238E27FC236}">
                <a16:creationId xmlns:a16="http://schemas.microsoft.com/office/drawing/2014/main" id="{B3A13985-8F40-6315-7133-1F6B0A64B65D}"/>
              </a:ext>
            </a:extLst>
          </p:cNvPr>
          <p:cNvSpPr txBox="1"/>
          <p:nvPr/>
        </p:nvSpPr>
        <p:spPr>
          <a:xfrm>
            <a:off x="3377169" y="5374124"/>
            <a:ext cx="8689280" cy="1245576"/>
          </a:xfrm>
          <a:prstGeom prst="rect">
            <a:avLst/>
          </a:prstGeom>
          <a:noFill/>
          <a:ln>
            <a:solidFill>
              <a:schemeClr val="accent1"/>
            </a:solidFill>
          </a:ln>
        </p:spPr>
        <p:txBody>
          <a:bodyPr wrap="square" rtlCol="0">
            <a:noAutofit/>
          </a:bodyPr>
          <a:lstStyle/>
          <a:p>
            <a:r>
              <a:rPr lang="en-US" dirty="0"/>
              <a:t>Play/Show Score Info </a:t>
            </a:r>
          </a:p>
        </p:txBody>
      </p:sp>
      <p:sp>
        <p:nvSpPr>
          <p:cNvPr id="79" name="TextBox 78">
            <a:extLst>
              <a:ext uri="{FF2B5EF4-FFF2-40B4-BE49-F238E27FC236}">
                <a16:creationId xmlns:a16="http://schemas.microsoft.com/office/drawing/2014/main" id="{01513594-8D05-4C26-FD96-4826DC01B5A6}"/>
              </a:ext>
            </a:extLst>
          </p:cNvPr>
          <p:cNvSpPr txBox="1"/>
          <p:nvPr/>
        </p:nvSpPr>
        <p:spPr>
          <a:xfrm>
            <a:off x="7020847" y="5438116"/>
            <a:ext cx="1073400" cy="276999"/>
          </a:xfrm>
          <a:prstGeom prst="rect">
            <a:avLst/>
          </a:prstGeom>
          <a:noFill/>
        </p:spPr>
        <p:txBody>
          <a:bodyPr wrap="square" rtlCol="0">
            <a:spAutoFit/>
          </a:bodyPr>
          <a:lstStyle/>
          <a:p>
            <a:r>
              <a:rPr lang="en-US" sz="1200" dirty="0">
                <a:solidFill>
                  <a:srgbClr val="FF0000"/>
                </a:solidFill>
              </a:rPr>
              <a:t>Grid-1 (3,1-2)</a:t>
            </a:r>
          </a:p>
        </p:txBody>
      </p:sp>
      <p:sp>
        <p:nvSpPr>
          <p:cNvPr id="81" name="TextBox 80">
            <a:extLst>
              <a:ext uri="{FF2B5EF4-FFF2-40B4-BE49-F238E27FC236}">
                <a16:creationId xmlns:a16="http://schemas.microsoft.com/office/drawing/2014/main" id="{7AF27D2F-B663-6478-618E-EF206F7E9644}"/>
              </a:ext>
            </a:extLst>
          </p:cNvPr>
          <p:cNvSpPr txBox="1"/>
          <p:nvPr/>
        </p:nvSpPr>
        <p:spPr>
          <a:xfrm>
            <a:off x="3458122" y="5705949"/>
            <a:ext cx="8533155" cy="819209"/>
          </a:xfrm>
          <a:prstGeom prst="rect">
            <a:avLst/>
          </a:prstGeom>
          <a:noFill/>
          <a:ln>
            <a:solidFill>
              <a:schemeClr val="accent1">
                <a:shade val="15000"/>
              </a:schemeClr>
            </a:solidFill>
          </a:ln>
        </p:spPr>
        <p:txBody>
          <a:bodyPr wrap="none" rtlCol="0">
            <a:noAutofit/>
          </a:bodyPr>
          <a:lstStyle/>
          <a:p>
            <a:r>
              <a:rPr lang="en-US" sz="1400" dirty="0"/>
              <a:t>Player 2 scored 15 for 2: KH 5S</a:t>
            </a:r>
          </a:p>
          <a:p>
            <a:r>
              <a:rPr lang="en-US" sz="1400" dirty="0"/>
              <a:t>Player 1 scored pair for 2; 5S 5D </a:t>
            </a:r>
          </a:p>
        </p:txBody>
      </p:sp>
      <p:sp>
        <p:nvSpPr>
          <p:cNvPr id="82" name="TextBox 81">
            <a:extLst>
              <a:ext uri="{FF2B5EF4-FFF2-40B4-BE49-F238E27FC236}">
                <a16:creationId xmlns:a16="http://schemas.microsoft.com/office/drawing/2014/main" id="{5B1D01CF-6C1B-1941-28CE-47E8E876C0AB}"/>
              </a:ext>
            </a:extLst>
          </p:cNvPr>
          <p:cNvSpPr txBox="1"/>
          <p:nvPr/>
        </p:nvSpPr>
        <p:spPr>
          <a:xfrm>
            <a:off x="6319478" y="5809174"/>
            <a:ext cx="1073400" cy="276999"/>
          </a:xfrm>
          <a:prstGeom prst="rect">
            <a:avLst/>
          </a:prstGeom>
          <a:noFill/>
        </p:spPr>
        <p:txBody>
          <a:bodyPr wrap="square" rtlCol="0">
            <a:spAutoFit/>
          </a:bodyPr>
          <a:lstStyle/>
          <a:p>
            <a:r>
              <a:rPr lang="en-US" sz="1200" dirty="0">
                <a:solidFill>
                  <a:srgbClr val="FF0000"/>
                </a:solidFill>
              </a:rPr>
              <a:t>Grid-2 (0,0)</a:t>
            </a:r>
          </a:p>
        </p:txBody>
      </p:sp>
      <p:sp>
        <p:nvSpPr>
          <p:cNvPr id="83" name="Rectangle: Rounded Corners 82">
            <a:extLst>
              <a:ext uri="{FF2B5EF4-FFF2-40B4-BE49-F238E27FC236}">
                <a16:creationId xmlns:a16="http://schemas.microsoft.com/office/drawing/2014/main" id="{5725134B-A390-E39B-EF97-C9AD96C6FB47}"/>
              </a:ext>
            </a:extLst>
          </p:cNvPr>
          <p:cNvSpPr/>
          <p:nvPr/>
        </p:nvSpPr>
        <p:spPr>
          <a:xfrm>
            <a:off x="10901724" y="2628303"/>
            <a:ext cx="1034384" cy="420641"/>
          </a:xfrm>
          <a:prstGeom prst="roundRect">
            <a:avLst/>
          </a:prstGeom>
          <a:solidFill>
            <a:schemeClr val="tx1">
              <a:lumMod val="50000"/>
              <a:lumOff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Undo</a:t>
            </a:r>
          </a:p>
        </p:txBody>
      </p:sp>
      <p:sp>
        <p:nvSpPr>
          <p:cNvPr id="84" name="Rectangle: Rounded Corners 83">
            <a:extLst>
              <a:ext uri="{FF2B5EF4-FFF2-40B4-BE49-F238E27FC236}">
                <a16:creationId xmlns:a16="http://schemas.microsoft.com/office/drawing/2014/main" id="{C64CD230-4282-5D76-2FCA-4C2A0F275945}"/>
              </a:ext>
            </a:extLst>
          </p:cNvPr>
          <p:cNvSpPr/>
          <p:nvPr/>
        </p:nvSpPr>
        <p:spPr>
          <a:xfrm>
            <a:off x="7324624" y="2280370"/>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5" name="Rectangle: Rounded Corners 84">
            <a:extLst>
              <a:ext uri="{FF2B5EF4-FFF2-40B4-BE49-F238E27FC236}">
                <a16:creationId xmlns:a16="http://schemas.microsoft.com/office/drawing/2014/main" id="{17AECAA6-9EB7-4E82-3AF5-0D84838AAAFE}"/>
              </a:ext>
            </a:extLst>
          </p:cNvPr>
          <p:cNvSpPr/>
          <p:nvPr/>
        </p:nvSpPr>
        <p:spPr>
          <a:xfrm>
            <a:off x="8238704" y="2271603"/>
            <a:ext cx="891268" cy="1347825"/>
          </a:xfrm>
          <a:prstGeom prst="roundRect">
            <a:avLst/>
          </a:prstGeom>
          <a:noFill/>
          <a:ln>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87" name="TextBox 86">
            <a:extLst>
              <a:ext uri="{FF2B5EF4-FFF2-40B4-BE49-F238E27FC236}">
                <a16:creationId xmlns:a16="http://schemas.microsoft.com/office/drawing/2014/main" id="{07F08FEA-3508-B93B-5693-A5969692DB41}"/>
              </a:ext>
            </a:extLst>
          </p:cNvPr>
          <p:cNvSpPr txBox="1"/>
          <p:nvPr/>
        </p:nvSpPr>
        <p:spPr>
          <a:xfrm>
            <a:off x="7316056" y="2324663"/>
            <a:ext cx="1073400" cy="276999"/>
          </a:xfrm>
          <a:prstGeom prst="rect">
            <a:avLst/>
          </a:prstGeom>
          <a:noFill/>
        </p:spPr>
        <p:txBody>
          <a:bodyPr wrap="square" rtlCol="0">
            <a:spAutoFit/>
          </a:bodyPr>
          <a:lstStyle/>
          <a:p>
            <a:r>
              <a:rPr lang="en-US" sz="1200" dirty="0">
                <a:solidFill>
                  <a:srgbClr val="FF0000"/>
                </a:solidFill>
              </a:rPr>
              <a:t>Grid-2 (0,4)</a:t>
            </a:r>
          </a:p>
        </p:txBody>
      </p:sp>
      <p:sp>
        <p:nvSpPr>
          <p:cNvPr id="88" name="TextBox 87">
            <a:extLst>
              <a:ext uri="{FF2B5EF4-FFF2-40B4-BE49-F238E27FC236}">
                <a16:creationId xmlns:a16="http://schemas.microsoft.com/office/drawing/2014/main" id="{B1F61F3B-D1EC-21B2-AD05-1DB15D976197}"/>
              </a:ext>
            </a:extLst>
          </p:cNvPr>
          <p:cNvSpPr txBox="1"/>
          <p:nvPr/>
        </p:nvSpPr>
        <p:spPr>
          <a:xfrm>
            <a:off x="8261202" y="2295466"/>
            <a:ext cx="1073400" cy="276999"/>
          </a:xfrm>
          <a:prstGeom prst="rect">
            <a:avLst/>
          </a:prstGeom>
          <a:noFill/>
        </p:spPr>
        <p:txBody>
          <a:bodyPr wrap="square" rtlCol="0">
            <a:spAutoFit/>
          </a:bodyPr>
          <a:lstStyle/>
          <a:p>
            <a:r>
              <a:rPr lang="en-US" sz="1200" dirty="0">
                <a:solidFill>
                  <a:srgbClr val="FF0000"/>
                </a:solidFill>
              </a:rPr>
              <a:t>Grid-2 (0,5)</a:t>
            </a:r>
          </a:p>
        </p:txBody>
      </p:sp>
      <p:sp>
        <p:nvSpPr>
          <p:cNvPr id="21" name="TextBox 20">
            <a:extLst>
              <a:ext uri="{FF2B5EF4-FFF2-40B4-BE49-F238E27FC236}">
                <a16:creationId xmlns:a16="http://schemas.microsoft.com/office/drawing/2014/main" id="{588D20FE-DE47-45EB-E25F-61EE691125EC}"/>
              </a:ext>
            </a:extLst>
          </p:cNvPr>
          <p:cNvSpPr txBox="1"/>
          <p:nvPr/>
        </p:nvSpPr>
        <p:spPr>
          <a:xfrm rot="16200000">
            <a:off x="-585854" y="913188"/>
            <a:ext cx="1740713" cy="276999"/>
          </a:xfrm>
          <a:prstGeom prst="rect">
            <a:avLst/>
          </a:prstGeom>
          <a:noFill/>
        </p:spPr>
        <p:txBody>
          <a:bodyPr wrap="square" rtlCol="0">
            <a:spAutoFit/>
          </a:bodyPr>
          <a:lstStyle/>
          <a:p>
            <a:r>
              <a:rPr lang="en-US" sz="1200" dirty="0">
                <a:solidFill>
                  <a:srgbClr val="FF0000"/>
                </a:solidFill>
              </a:rPr>
              <a:t>Grid-0 (row=0,colum=0)</a:t>
            </a:r>
          </a:p>
        </p:txBody>
      </p:sp>
      <p:sp>
        <p:nvSpPr>
          <p:cNvPr id="25" name="TextBox 24">
            <a:extLst>
              <a:ext uri="{FF2B5EF4-FFF2-40B4-BE49-F238E27FC236}">
                <a16:creationId xmlns:a16="http://schemas.microsoft.com/office/drawing/2014/main" id="{DF1426B6-9EFD-2702-3EBC-E557D9972549}"/>
              </a:ext>
            </a:extLst>
          </p:cNvPr>
          <p:cNvSpPr txBox="1"/>
          <p:nvPr/>
        </p:nvSpPr>
        <p:spPr>
          <a:xfrm>
            <a:off x="10901724" y="2411168"/>
            <a:ext cx="1073400" cy="276999"/>
          </a:xfrm>
          <a:prstGeom prst="rect">
            <a:avLst/>
          </a:prstGeom>
          <a:noFill/>
        </p:spPr>
        <p:txBody>
          <a:bodyPr wrap="square" rtlCol="0">
            <a:spAutoFit/>
          </a:bodyPr>
          <a:lstStyle/>
          <a:p>
            <a:r>
              <a:rPr lang="en-US" sz="1200" dirty="0">
                <a:solidFill>
                  <a:srgbClr val="FF0000"/>
                </a:solidFill>
              </a:rPr>
              <a:t>Grid-2 (0,6)</a:t>
            </a:r>
          </a:p>
        </p:txBody>
      </p:sp>
    </p:spTree>
    <p:extLst>
      <p:ext uri="{BB962C8B-B14F-4D97-AF65-F5344CB8AC3E}">
        <p14:creationId xmlns:p14="http://schemas.microsoft.com/office/powerpoint/2010/main" val="34581415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539</Words>
  <Application>Microsoft Office PowerPoint</Application>
  <PresentationFormat>Widescreen</PresentationFormat>
  <Paragraphs>64</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Geurts</dc:creator>
  <cp:lastModifiedBy>Kevin Geurts</cp:lastModifiedBy>
  <cp:revision>49</cp:revision>
  <dcterms:created xsi:type="dcterms:W3CDTF">2024-04-10T14:59:35Z</dcterms:created>
  <dcterms:modified xsi:type="dcterms:W3CDTF">2024-04-11T16:37:38Z</dcterms:modified>
</cp:coreProperties>
</file>